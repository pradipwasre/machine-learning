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833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560320"/>
            <a:ext cx="2011680" cy="2011680"/>
          </a:xfrm>
          <a:prstGeom prst="ellipse">
            <a:avLst/>
          </a:prstGeom>
          <a:solidFill>
            <a:srgbClr val="0891B2">
              <a:alpha val="4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315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Roadmap for Data Scientists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029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 GenAI is → to building real applications with LangChain + RAG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38328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What is GenAI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0" y="338328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Open vs Closed Source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338328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How GenAI Works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338328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LangChain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88620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886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Prompting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0" y="388620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0" y="3886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Vector Stores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46320" y="3886200"/>
            <a:ext cx="1920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3886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RAG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Masterclass  •  Theory Only  •  Beginner Friendly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Today's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is Generative AI?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99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big picture — what's the buzz all about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029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Open Source vs Closed Source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399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GPT vs LLaMA — who owns the model?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11680"/>
            <a:ext cx="5029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116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GenAI Actually Works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404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Transformers, tokens, and the magic behind responses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011680"/>
            <a:ext cx="5029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116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LangChain &amp; Why It Exists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404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glue between your code and AI models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17520"/>
            <a:ext cx="5029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Prompt Engineering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410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art of talking to an AI effectively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17520"/>
            <a:ext cx="5029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Vector Stores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410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How AI remembers things — semantic memory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023360"/>
            <a:ext cx="5029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023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012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RAG – Retrieval Augmented Generation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" y="44165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Giving AI access to your own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|  What is Generative AI?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</a:rPr>
              <a:t>Generative AI</a:t>
            </a:r>
            <a:r>
              <a:rPr lang="en-US" sz="1350" dirty="0">
                <a:solidFill>
                  <a:srgbClr val="FFFFFF"/>
                </a:solidFill>
              </a:rPr>
              <a:t> is AI that can </a:t>
            </a:r>
            <a:r>
              <a:rPr lang="en-US" sz="1350" b="1" dirty="0">
                <a:solidFill>
                  <a:srgbClr val="06B6D4"/>
                </a:solidFill>
              </a:rPr>
              <a:t>create new content</a:t>
            </a:r>
            <a:r>
              <a:rPr lang="en-US" sz="1350" dirty="0">
                <a:solidFill>
                  <a:srgbClr val="FFFFFF"/>
                </a:solidFill>
              </a:rPr>
              <a:t> — text, images, code, audio — by learning patterns from massive amounts of data.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2651760" cy="45720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Traditional AI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450592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127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Classifies, predicts, detects.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Given data → gives an answer.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Example: Spam filter, fraud detection.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92024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920240"/>
            <a:ext cx="2651760" cy="4572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9659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Generative AI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91840" y="2450592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127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Creates new content from scratch.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Given a prompt → produces output.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Example: ChatGPT, DALL-E, Copilot.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92024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920240"/>
            <a:ext cx="2651760" cy="4572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9659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Examples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26480" y="2450592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127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ChatGPT → writes 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Midjourney → creates images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GitHub Copilot → writes code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891B2"/>
                </a:solidFill>
              </a:rPr>
              <a:t>💡  Think of it this way: Traditional AI is like a detective — it finds answers. GenAI is like an artist — it creates something new.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Open Source vs Closed Source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069080"/>
          </a:xfrm>
          <a:prstGeom prst="rect">
            <a:avLst/>
          </a:prstGeom>
          <a:solidFill>
            <a:srgbClr val="FFF1F2"/>
          </a:solidFill>
          <a:ln w="19050">
            <a:solidFill>
              <a:srgbClr val="FCA5A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60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Closed Source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15087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✗  Code &amp; weights are private — you can't see inside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5760" y="19385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✗  Access via paid API only (e.g., OpenAI, Anthropic)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760" y="23682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✗  Highly capable — state-of-the-art performance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279806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✗  No customization of the core model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32278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✗  Data goes to the provider's servers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" y="3703320"/>
            <a:ext cx="3931920" cy="4572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3794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Popular Models: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40416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GPT-4o (OpenAI)   |   Claude 3.5 (Anthropic)   |   Gemini 1.5 (Google)   |   Grok (xAI)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46320" y="914400"/>
            <a:ext cx="4023360" cy="4069080"/>
          </a:xfrm>
          <a:prstGeom prst="rect">
            <a:avLst/>
          </a:prstGeom>
          <a:solidFill>
            <a:srgbClr val="F0FDF4"/>
          </a:solidFill>
          <a:ln w="19050">
            <a:solidFill>
              <a:srgbClr val="6EE7B7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0584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960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</a:rPr>
              <a:t>Open Source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19472" y="15087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Code &amp; weights are public — full transparency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919472" y="19385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Run locally on your own machine or server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919472" y="23682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Free to use, modify, and fine-tune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919472" y="279806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Requires technical setup and compute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919472" y="32278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Your data stays with you — full privacy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892040" y="3703320"/>
            <a:ext cx="3931920" cy="4572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24" name="Text 20"/>
          <p:cNvSpPr/>
          <p:nvPr/>
        </p:nvSpPr>
        <p:spPr>
          <a:xfrm>
            <a:off x="4919472" y="3794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Popular Models: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919472" y="40416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LLaMA 3 (Meta)   |   Mistral   |   Gemma (Google)   |   Phi-3 (Microsoft)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7" name="Text 23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How Does GenAI Actually Work?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6002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9601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Training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53619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635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Billions of web pages, books, code — the model reads it 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2194560"/>
            <a:ext cx="13716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1984248" y="208483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96012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960120"/>
            <a:ext cx="16002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50592" y="9601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Tokenization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153619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635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Text is split into small chunks called tokens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(~0.75 words each)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2194560"/>
            <a:ext cx="13716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3721608" y="208483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96012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960120"/>
            <a:ext cx="1600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87952" y="9601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Transformer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22192" y="153619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635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 neural network learns the relationships between tokens using attention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2194560"/>
            <a:ext cx="13716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5458968" y="208483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96012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960120"/>
            <a:ext cx="160020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25312" y="9601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59552" y="153619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635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Given your input, the model predicts the most likely next token, repeatedly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86600" y="2194560"/>
            <a:ext cx="13716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Text 29"/>
          <p:cNvSpPr/>
          <p:nvPr/>
        </p:nvSpPr>
        <p:spPr>
          <a:xfrm>
            <a:off x="7196328" y="208483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96012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960120"/>
            <a:ext cx="16002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62672" y="9601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96912" y="153619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635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Tokens are assembled back into human-readable text/code/etc.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85953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🔑  Key Insight: </a:t>
            </a:r>
            <a:r>
              <a:rPr lang="en-US" sz="1200" dirty="0">
                <a:solidFill>
                  <a:srgbClr val="FFFFFF"/>
                </a:solidFill>
              </a:rPr>
              <a:t>The model doesn't 'understand' language the way humans do. It predicts statistically what comes next. But trained on enough data, this prediction is incredibly powerful and human-like.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LangChain – The Developer's Toolkit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2286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⚠  Calling different AI APIs with different formats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⚠  Connecting LLM output to databases/files/search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09397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⚠  Building multi-step AI workflows (chains)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43230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⚠  Managing memory/conversation history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7706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⚠  Switching between models easily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548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425696" y="185623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914400"/>
            <a:ext cx="393192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LangChain Solves This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417320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Unified interface → plug in any LLM easily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755648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Built-in connectors for DBs, APIs, files, search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093976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Chain = combine prompts + logic + tools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432304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Memory management out of the box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77063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✓  Swap models in one line of config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8595360" cy="1508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01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What is LangChain in one line?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</a:rPr>
              <a:t>LangChain is an open-source Python (and JavaScript) framework that makes it easy to build applications powered by large language models — connecting prompts, memory, tools, and data sources in one place.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|  Prompt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3A5F"/>
                </a:solidFill>
              </a:rPr>
              <a:t>A prompt is your instruction to the AI. How you phrase it dramatically changes the output.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886200" cy="3291840"/>
          </a:xfrm>
          <a:prstGeom prst="rect">
            <a:avLst/>
          </a:prstGeom>
          <a:solidFill>
            <a:srgbClr val="F0F9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Anatomy of a Good Prompt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777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9202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Tell the AI who it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'You are an expert data analyst…'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777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68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Give background information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'We have 3 months of sales data…'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777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017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State what you want clearly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'Summarize the top 3 trends'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777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566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Format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Specify the output format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'Respond in bullet points'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114800"/>
            <a:ext cx="777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4114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Constraints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Set limits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'Keep it under 100 words'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1417320"/>
            <a:ext cx="365760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Bad Prompt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</a:rPr>
              <a:t>"Write something about sales"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103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Too vague. The AI will guess everything.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880360"/>
            <a:ext cx="365760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 Good Prompt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32461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"You are a senior sales analyst. Given our Q3 data showing a 20% drop in Region B, write a 3-bullet summary of likely causes. Keep it concise."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4343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Specific role + context + format = great output!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Vector Stores – AI's Semantic Memory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</a:rPr>
              <a:t>The Problem: </a:t>
            </a:r>
            <a:r>
              <a:rPr lang="en-US" sz="1200" dirty="0">
                <a:solidFill>
                  <a:srgbClr val="1E293B"/>
                </a:solidFill>
              </a:rPr>
              <a:t>LLMs don't remember. Every conversation starts fresh. How do we give them access to our own data?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1600200" cy="5943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91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Your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47088" y="18288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235915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PDF, Word, DB, website...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691640"/>
            <a:ext cx="1600200" cy="59436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691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Chunk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84448" y="18288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65960" y="235915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Split into pieces, convert to numbers (embeddings)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691640"/>
            <a:ext cx="1600200" cy="59436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691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21808" y="18288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235915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 database that stores number-vectors (ChromaDB, Pinecone, FAISS)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691640"/>
            <a:ext cx="1600200" cy="59436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1691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59168" y="18288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235915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User question → search for most similar chunks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691640"/>
            <a:ext cx="1600200" cy="59436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1691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235915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Relevant chunks are sent to the AI as context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8595360" cy="822960"/>
          </a:xfrm>
          <a:prstGeom prst="rect">
            <a:avLst/>
          </a:prstGeom>
          <a:solidFill>
            <a:srgbClr val="F0F9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5468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</a:rPr>
              <a:t>📚  Library Analogy: </a:t>
            </a:r>
            <a:r>
              <a:rPr lang="en-US" sz="1150" dirty="0">
                <a:solidFill>
                  <a:srgbClr val="1E293B"/>
                </a:solidFill>
              </a:rPr>
              <a:t>Imagine you have 1000 books. Instead of reading each one to answer a question, you create an index. Vector stores are that index — but for </a:t>
            </a:r>
            <a:r>
              <a:rPr lang="en-US" sz="1150" b="1" dirty="0">
                <a:solidFill>
                  <a:srgbClr val="0891B2"/>
                </a:solidFill>
              </a:rPr>
              <a:t>meaning</a:t>
            </a:r>
            <a:r>
              <a:rPr lang="en-US" sz="1150" dirty="0">
                <a:solidFill>
                  <a:srgbClr val="1E293B"/>
                </a:solidFill>
              </a:rPr>
              <a:t>, not just keywords. Searching 'happy' also finds chunks about 'joy', 'delighted', 'elated'.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Popular Vector Stores: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407408"/>
            <a:ext cx="1572768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0740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</a:rPr>
              <a:t>ChromaDB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93392" y="4407408"/>
            <a:ext cx="1572768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440740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</a:rPr>
              <a:t>FAISS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12464" y="4407408"/>
            <a:ext cx="1572768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440740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</a:rPr>
              <a:t>Pinecone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31536" y="4407408"/>
            <a:ext cx="1572768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31536" y="440740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</a:rPr>
              <a:t>Weaviate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50608" y="4407408"/>
            <a:ext cx="1572768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0608" y="440740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</a:rPr>
              <a:t>Qdrant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07  |  RAG – Retrieval Augmented Generation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RAG = </a:t>
            </a:r>
            <a:r>
              <a:rPr lang="en-US" sz="1300" dirty="0">
                <a:solidFill>
                  <a:srgbClr val="FFFFFF"/>
                </a:solidFill>
              </a:rPr>
              <a:t>Give the AI your </a:t>
            </a:r>
            <a:r>
              <a:rPr lang="en-US" sz="1300" b="1" dirty="0">
                <a:solidFill>
                  <a:srgbClr val="06B6D4"/>
                </a:solidFill>
              </a:rPr>
              <a:t>own data</a:t>
            </a:r>
            <a:r>
              <a:rPr lang="en-US" sz="1300" dirty="0">
                <a:solidFill>
                  <a:srgbClr val="FFFFFF"/>
                </a:solidFill>
              </a:rPr>
              <a:t> at query time, so it answers from YOUR knowledge base — not just what it was trained 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" y="169164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377440"/>
            <a:ext cx="1600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User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Question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"What is our refund policy?"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9019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96312" y="169164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496312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93392" y="2377440"/>
            <a:ext cx="1600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93392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91B2"/>
                </a:solidFill>
              </a:rPr>
              <a:t>Embed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91B2"/>
                </a:solidFill>
              </a:rPr>
              <a:t>Question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57400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Convert to a number vector using embeddings model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19019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33672" y="169164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233672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30752" y="2377440"/>
            <a:ext cx="1600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30752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</a:rPr>
              <a:t>Search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</a:rPr>
              <a:t>Vector DB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94760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Find the top-K most similar document chunks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19019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71032" y="1691640"/>
            <a:ext cx="594360" cy="5943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5971032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68112" y="2377440"/>
            <a:ext cx="1600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68112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</a:rPr>
              <a:t>Build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</a:rPr>
              <a:t>Prompt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32120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Combine: question + retrieved chunks into one big prompt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19019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08392" y="169164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7708392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05472" y="2377440"/>
            <a:ext cx="1600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05472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</a:rPr>
              <a:t>LLM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</a:rPr>
              <a:t>Answer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69480" y="283464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Model answers ONLY based on retrieved context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611880"/>
            <a:ext cx="8595360" cy="1463040"/>
          </a:xfrm>
          <a:prstGeom prst="rect">
            <a:avLst/>
          </a:prstGeom>
          <a:solidFill>
            <a:srgbClr val="F0F9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Why RAG is a Game-Changer for Businesses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" y="40965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✦  AI answers from your company's own documents, accurate, current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0" y="40965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✦  No need to retrain the model when data changes, just update the vector store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45537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✦  Drastically reduces 'hallucination' (AI making things up)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63440" y="45537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635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✦  Works on private data without sending it to the model provider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Putting It All Together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3A5F"/>
                </a:solidFill>
              </a:rPr>
              <a:t>Here's how all the concepts connect in a real GenAI application: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508760" cy="749808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173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6459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20240" y="1417320"/>
            <a:ext cx="1508760" cy="749808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4173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417320"/>
            <a:ext cx="1691640" cy="749808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41732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LangChain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(Orchestration)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6459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417320"/>
            <a:ext cx="1508760" cy="749808"/>
          </a:xfrm>
          <a:prstGeom prst="rect">
            <a:avLst/>
          </a:prstGeom>
          <a:solidFill>
            <a:srgbClr val="EA580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14173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 Store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RAG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16459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1417320"/>
            <a:ext cx="1783080" cy="749808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41732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(Open/Closed)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377440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77440"/>
            <a:ext cx="2029968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" y="23774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GenAI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" y="2761488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AI that creates new content (text, images, code) by learning from data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32304" y="2377440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32304" y="2377440"/>
            <a:ext cx="2029968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2432304" y="23774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Open vs Closed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05456" y="2761488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Open = free, local, customizable. Closed = powerful, paid API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08576" y="2377440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2377440"/>
            <a:ext cx="2029968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608576" y="23774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81728" y="2761488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Transformer neural network predicts next token based on training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84848" y="2377440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84848" y="2377440"/>
            <a:ext cx="2029968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784848" y="23774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LangChain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2761488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Python framework that connects LLMs, tools, memory, and data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3611880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611880"/>
            <a:ext cx="2029968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" y="361188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Prompting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" y="3995928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Clear role + context + task + format = great AI output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432304" y="3611880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32304" y="3611880"/>
            <a:ext cx="2029968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2432304" y="361188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Vector Store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05456" y="3995928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 semantic database that stores document chunks as number-vectors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08576" y="3611880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08576" y="3611880"/>
            <a:ext cx="2029968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4608576" y="361188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RAG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81728" y="3995928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Retrieve relevant chunks from your data, inject into prompt → accurate answers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657600" cy="3657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Next Step?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657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447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Explore ChatGPT / Claude – practice prompting daily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0665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Read the LangChain docs – start with the quickstart guide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883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Build a simple Q&amp;A chatbot using LangChain + any LLM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82696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3101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Add a vector store (ChromaDB) to make it answer from your PDF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0448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931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Implement full RAG pipeline, your own knowledge base!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80467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6B6D4"/>
                </a:solidFill>
              </a:rPr>
              <a:t>You now have the mental model. Go build something amazing!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1351</Words>
  <Application>Microsoft Office PowerPoint</Application>
  <PresentationFormat>On-screen Show (16:9)</PresentationFormat>
  <Paragraphs>241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– Complete Roadmap</dc:title>
  <dc:subject>PptxGenJS Presentation</dc:subject>
  <dc:creator>PptxGenJS</dc:creator>
  <cp:lastModifiedBy>Pradip Wasre</cp:lastModifiedBy>
  <cp:revision>4</cp:revision>
  <dcterms:created xsi:type="dcterms:W3CDTF">2026-05-13T18:41:48Z</dcterms:created>
  <dcterms:modified xsi:type="dcterms:W3CDTF">2026-05-13T18:53:06Z</dcterms:modified>
</cp:coreProperties>
</file>